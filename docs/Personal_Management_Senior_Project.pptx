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63" r:id="rId3"/>
    <p:sldId id="264" r:id="rId4"/>
    <p:sldId id="265" r:id="rId5"/>
    <p:sldId id="266" r:id="rId6"/>
    <p:sldId id="258" r:id="rId7"/>
    <p:sldId id="259" r:id="rId8"/>
    <p:sldId id="261" r:id="rId9"/>
    <p:sldId id="262" r:id="rId10"/>
    <p:sldId id="267" r:id="rId11"/>
    <p:sldId id="268" r:id="rId12"/>
    <p:sldId id="269" r:id="rId13"/>
    <p:sldId id="25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3C9BFD-8EA3-27F1-5D8B-68B16A011CB3}" v="1976" dt="2026-04-24T16:15:18.3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965A7A7B-B71A-428D-833F-0F3507A6DB13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3741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5CF65307-640F-4AE7-B0BE-50C709AD86C5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053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EA1F9-1F0F-4C65-8F6E-9729B924AAAC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8927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202278E8-5F4B-47D5-A617-8CCDF75D6A33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6357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16AAFA52-7A21-407F-8339-40DF182D7460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526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70335-1C1A-4243-9BDD-9630C417D284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8242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1513F-8EBD-4612-96F4-CC3E309609AF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328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6E6483A1-31A8-47A2-AB0A-53A7803D5EBF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7637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6D8810B9-2C7C-4CAF-99E2-617AE20BA331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134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8F9EB-9D34-4B41-B66C-5FAF50876D2D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413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89A26-CAA1-4690-8C1F-1641B1B97745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2837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93E0A-5177-400C-87C9-C93AF466EC49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917615-2DB4-4DAA-9DE3-B2B689A846E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1295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KaileyMO/Time-Management-Projec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Hourglass and a calendar">
            <a:extLst>
              <a:ext uri="{FF2B5EF4-FFF2-40B4-BE49-F238E27FC236}">
                <a16:creationId xmlns:a16="http://schemas.microsoft.com/office/drawing/2014/main" id="{A5E7B0ED-3174-8DFC-18D9-7116C228C0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754" r="-2" b="528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8726" y="146811"/>
            <a:ext cx="4470544" cy="3474720"/>
          </a:xfrm>
        </p:spPr>
        <p:txBody>
          <a:bodyPr anchor="b">
            <a:normAutofit/>
          </a:bodyPr>
          <a:lstStyle/>
          <a:p>
            <a:pPr algn="l"/>
            <a:r>
              <a:rPr lang="en-US" sz="4900">
                <a:solidFill>
                  <a:schemeClr val="bg1"/>
                </a:solidFill>
              </a:rPr>
              <a:t>Personal </a:t>
            </a:r>
            <a:br>
              <a:rPr lang="en-US" sz="4900" dirty="0">
                <a:solidFill>
                  <a:schemeClr val="bg1"/>
                </a:solidFill>
              </a:rPr>
            </a:br>
            <a:r>
              <a:rPr lang="en-US" sz="4900">
                <a:solidFill>
                  <a:schemeClr val="bg1"/>
                </a:solidFill>
              </a:rPr>
              <a:t>Management Application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7714" y="3753890"/>
            <a:ext cx="4116410" cy="138684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2200">
                <a:solidFill>
                  <a:schemeClr val="bg1"/>
                </a:solidFill>
              </a:rPr>
              <a:t>By Kailey Owens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8E75E-F94D-E93A-E2DF-84EC52671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Purpose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EC0E5-140A-9019-C3EB-3057DCFEC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The modern world is a very busy place; it is difficult to keep track of every responsibility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One of the most </a:t>
            </a:r>
            <a:r>
              <a:rPr lang="en-US"/>
              <a:t>valuable things a person has is time, which is easily wasted while overwhelmed about everything that must get done</a:t>
            </a:r>
            <a:endParaRPr lang="en-US" dirty="0"/>
          </a:p>
          <a:p>
            <a:r>
              <a:rPr lang="en-US"/>
              <a:t>I propose an application that helps relieve busy schedules. It will lay out the user's responsibilities in a digestible manner so the user can prepare for and deal with them more easily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555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B5B34-BEB1-4F29-82A8-A8C1EBD11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Research and Background 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60B353-C0A1-FE28-075C-A8F98617A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2400"/>
              <a:t>I did not have much experience working on websites, but it was fitting for this project</a:t>
            </a:r>
            <a:endParaRPr lang="en-US" sz="24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/>
              <a:t>Worked briefly on html for an internship</a:t>
            </a:r>
            <a:endParaRPr lang="en-US" sz="2000" dirty="0"/>
          </a:p>
          <a:p>
            <a:r>
              <a:rPr lang="en-US" sz="2400"/>
              <a:t>Application is a web-server because:</a:t>
            </a:r>
            <a:endParaRPr lang="en-US" sz="24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/>
              <a:t>Convenience of </a:t>
            </a:r>
            <a:r>
              <a:rPr lang="en-US" sz="2000"/>
              <a:t>access. Its general usability implies that users would be more likely to find a web version useful for quick and uncommitted look up</a:t>
            </a:r>
            <a:endParaRPr lang="en-US" sz="20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/>
              <a:t>Its flexible design is fitting for using an existing environment rather than creating a full app space by hand; no complexity is lost on the web</a:t>
            </a:r>
            <a:endParaRPr lang="en-US" sz="2000" dirty="0"/>
          </a:p>
          <a:p>
            <a:r>
              <a:rPr lang="en-US" sz="2400" dirty="0"/>
              <a:t>Researched web design and common </a:t>
            </a:r>
            <a:r>
              <a:rPr lang="en-US" sz="2400"/>
              <a:t>languages, biggest choice was python</a:t>
            </a:r>
            <a:endParaRPr lang="en-US" sz="2400" dirty="0"/>
          </a:p>
          <a:p>
            <a:pPr lvl="1">
              <a:buFont typeface="Courier New" panose="020B0604020202020204" pitchFamily="34" charset="0"/>
              <a:buChar char="o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35984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A01D4-9854-B5B0-84D4-15567A210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68914-41A5-9BB3-99CE-6756B58AFC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Languages used: HTML, CSS, Python, JavaScript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Python is especially useful with its Calendar library</a:t>
            </a:r>
            <a:endParaRPr lang="en-US" dirty="0"/>
          </a:p>
          <a:p>
            <a:r>
              <a:rPr lang="en-US" dirty="0"/>
              <a:t>Software/assistance: python environment, Jinja, Flask, SQLite</a:t>
            </a:r>
          </a:p>
          <a:p>
            <a:r>
              <a:rPr lang="en-US"/>
              <a:t>Hardware: Computer with access to GitHub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5507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7C586-B8B6-0785-CEAC-92D19C01B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CAC44-54BA-0E1A-6C31-623F9862EE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Access to necessary tools (refer previous slide)</a:t>
            </a:r>
          </a:p>
          <a:p>
            <a:r>
              <a:rPr lang="en-US"/>
              <a:t>User must generate the database by running a python file</a:t>
            </a:r>
            <a:endParaRPr lang="en-US" dirty="0"/>
          </a:p>
          <a:p>
            <a:r>
              <a:rPr lang="en-US" dirty="0"/>
              <a:t>Ability for program to run on a server and open in </a:t>
            </a:r>
            <a:r>
              <a:rPr lang="en-US"/>
              <a:t>browser</a:t>
            </a:r>
          </a:p>
          <a:p>
            <a:r>
              <a:rPr lang="en-US"/>
              <a:t>Application must display all frontend design and be able to use backend logic correctly</a:t>
            </a:r>
          </a:p>
        </p:txBody>
      </p:sp>
    </p:spTree>
    <p:extLst>
      <p:ext uri="{BB962C8B-B14F-4D97-AF65-F5344CB8AC3E}">
        <p14:creationId xmlns:p14="http://schemas.microsoft.com/office/powerpoint/2010/main" val="3136444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2E5C8-9CE3-F3C7-3F0D-94B9E7208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5141" y="548640"/>
            <a:ext cx="4641085" cy="1163573"/>
          </a:xfrm>
        </p:spPr>
        <p:txBody>
          <a:bodyPr/>
          <a:lstStyle/>
          <a:p>
            <a:pPr algn="ctr"/>
            <a:r>
              <a:rPr lang="en-US"/>
              <a:t>Implementation</a:t>
            </a:r>
          </a:p>
        </p:txBody>
      </p:sp>
      <p:pic>
        <p:nvPicPr>
          <p:cNvPr id="5" name="Content Placeholder 4" descr="A calendar with a yellow note&#10;&#10;AI-generated content may be incorrect.">
            <a:extLst>
              <a:ext uri="{FF2B5EF4-FFF2-40B4-BE49-F238E27FC236}">
                <a16:creationId xmlns:a16="http://schemas.microsoft.com/office/drawing/2014/main" id="{CE693198-2742-7A83-4020-09595D4F88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56563" y="1599474"/>
            <a:ext cx="7860082" cy="43666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C72D1B-7892-6150-2BDA-1BC0C0BCF6BB}"/>
              </a:ext>
            </a:extLst>
          </p:cNvPr>
          <p:cNvSpPr txBox="1"/>
          <p:nvPr/>
        </p:nvSpPr>
        <p:spPr>
          <a:xfrm>
            <a:off x="7700503" y="1596103"/>
            <a:ext cx="3906255" cy="40934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000" dirty="0"/>
              <a:t>The Application opens up on the current month and year</a:t>
            </a:r>
          </a:p>
          <a:p>
            <a:pPr marL="342900" indent="-342900">
              <a:buFont typeface="Arial"/>
              <a:buChar char="•"/>
            </a:pPr>
            <a:r>
              <a:rPr lang="en-US" sz="2000"/>
              <a:t>You will see the month, days of the week, and the days with event(s)</a:t>
            </a:r>
          </a:p>
          <a:p>
            <a:pPr marL="342900" indent="-342900">
              <a:buFont typeface="Arial"/>
              <a:buChar char="•"/>
            </a:pPr>
            <a:r>
              <a:rPr lang="en-US" sz="2000"/>
              <a:t>A circle implies there is an event</a:t>
            </a:r>
          </a:p>
          <a:p>
            <a:pPr marL="800100" lvl="1" indent="-342900">
              <a:buFont typeface="Courier New"/>
              <a:buChar char="o"/>
            </a:pPr>
            <a:r>
              <a:rPr lang="en-US" sz="2000"/>
              <a:t>Up to three circles will appear depending on how many events there are</a:t>
            </a:r>
          </a:p>
          <a:p>
            <a:pPr marL="342900" indent="-342900">
              <a:buFont typeface="Arial"/>
              <a:buChar char="•"/>
            </a:pPr>
            <a:r>
              <a:rPr lang="en-US" sz="2000"/>
              <a:t>Click the number of a day to get to that day's page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455829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72502-C19F-D868-B9A0-6DE39DAA0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4923"/>
            <a:ext cx="4621553" cy="13607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Day View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2DAE653-E71C-A7CB-A885-7E6D50FBD9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31820" y="1725893"/>
            <a:ext cx="6991985" cy="34062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2427AC9-EEC6-BD05-07C2-641A58695348}"/>
              </a:ext>
            </a:extLst>
          </p:cNvPr>
          <p:cNvSpPr txBox="1"/>
          <p:nvPr/>
        </p:nvSpPr>
        <p:spPr>
          <a:xfrm>
            <a:off x="612648" y="2584058"/>
            <a:ext cx="4621553" cy="315901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marL="28575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After clicking a day, you get to the day view. It has the date, ability to add an event, every hour of the day, and a button to get back to the months</a:t>
            </a:r>
          </a:p>
          <a:p>
            <a:pPr marL="28575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Adding an event lets you enter the title and time</a:t>
            </a:r>
          </a:p>
          <a:p>
            <a:pPr marL="28575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Events will appear in the correct hour of the event; 12 AM is the default time</a:t>
            </a:r>
          </a:p>
        </p:txBody>
      </p:sp>
    </p:spTree>
    <p:extLst>
      <p:ext uri="{BB962C8B-B14F-4D97-AF65-F5344CB8AC3E}">
        <p14:creationId xmlns:p14="http://schemas.microsoft.com/office/powerpoint/2010/main" val="4209245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78F0D-B585-1DBB-8137-90828CE54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4" y="4837132"/>
            <a:ext cx="4705097" cy="161568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Notes Section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05EFC7D-C2DB-1560-B618-26FF80F3A3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22522"/>
          <a:stretch>
            <a:fillRect/>
          </a:stretch>
        </p:blipFill>
        <p:spPr>
          <a:xfrm>
            <a:off x="20" y="10"/>
            <a:ext cx="12191980" cy="45577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3B9607E-A5DF-9352-92DE-78887796EF18}"/>
              </a:ext>
            </a:extLst>
          </p:cNvPr>
          <p:cNvSpPr txBox="1"/>
          <p:nvPr/>
        </p:nvSpPr>
        <p:spPr>
          <a:xfrm>
            <a:off x="6019333" y="4837132"/>
            <a:ext cx="5753567" cy="1615684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/>
              <a:t>The header allows you to go to Calendar, Notes, and Budget pages</a:t>
            </a:r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/>
              <a:t>Notes brings you to this text editor page</a:t>
            </a:r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/>
              <a:t>You can write down anything and save your writing by clicking the "Save" button</a:t>
            </a:r>
          </a:p>
        </p:txBody>
      </p:sp>
    </p:spTree>
    <p:extLst>
      <p:ext uri="{BB962C8B-B14F-4D97-AF65-F5344CB8AC3E}">
        <p14:creationId xmlns:p14="http://schemas.microsoft.com/office/powerpoint/2010/main" val="25277991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C9FAE-4904-5FD4-D9C9-B33E54DCB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3915321" cy="1154029"/>
          </a:xfrm>
        </p:spPr>
        <p:txBody>
          <a:bodyPr/>
          <a:lstStyle/>
          <a:p>
            <a:r>
              <a:rPr lang="en-US"/>
              <a:t>Budget Section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8AE1F17-0EC2-5DF8-4FFF-01A9699A79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11922" y="1580694"/>
            <a:ext cx="8523514" cy="40470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C429CF0-56FC-7867-59D6-1A964CCAADF4}"/>
              </a:ext>
            </a:extLst>
          </p:cNvPr>
          <p:cNvSpPr txBox="1"/>
          <p:nvPr/>
        </p:nvSpPr>
        <p:spPr>
          <a:xfrm>
            <a:off x="199633" y="2312282"/>
            <a:ext cx="3184071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Budget section gives a list of text/number inputs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Allows users to keep track of finances and see what goes to what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Budget items can be deleted or appended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Once file is saved, the total is calculated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3403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C7D8B-A721-CA6B-5E01-7BEFBB998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1AA24-12FE-A6F3-885F-CA264E831D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684217"/>
            <a:ext cx="3597251" cy="462514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Testing method: several test cases were created and distributed among multiple testers</a:t>
            </a:r>
          </a:p>
          <a:p>
            <a:r>
              <a:rPr lang="en-US" dirty="0"/>
              <a:t>A </a:t>
            </a:r>
            <a:r>
              <a:rPr lang="en-US"/>
              <a:t>seven-question</a:t>
            </a:r>
            <a:r>
              <a:rPr lang="en-US" dirty="0"/>
              <a:t> survey was conducted for each tester</a:t>
            </a:r>
          </a:p>
        </p:txBody>
      </p:sp>
      <p:pic>
        <p:nvPicPr>
          <p:cNvPr id="5" name="Picture 4" descr="A white table with black text&#10;&#10;AI-generated content may be incorrect.">
            <a:extLst>
              <a:ext uri="{FF2B5EF4-FFF2-40B4-BE49-F238E27FC236}">
                <a16:creationId xmlns:a16="http://schemas.microsoft.com/office/drawing/2014/main" id="{D661C668-40C4-0629-06A5-81514AE111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261" y="2281536"/>
            <a:ext cx="2457450" cy="22955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6A4E13D-0C33-0F42-DA97-5A453DD26A23}"/>
              </a:ext>
            </a:extLst>
          </p:cNvPr>
          <p:cNvSpPr txBox="1"/>
          <p:nvPr/>
        </p:nvSpPr>
        <p:spPr>
          <a:xfrm>
            <a:off x="7616738" y="1669421"/>
            <a:ext cx="4082258" cy="40934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000"/>
              <a:t>Results were diverse</a:t>
            </a:r>
            <a:endParaRPr lang="en-US" sz="2000" dirty="0"/>
          </a:p>
          <a:p>
            <a:pPr marL="285750" indent="-285750">
              <a:buFont typeface="Arial"/>
              <a:buChar char="•"/>
            </a:pPr>
            <a:r>
              <a:rPr lang="en-US" sz="2000" dirty="0"/>
              <a:t>Notes was the most commonly named least useful section, but it was also named the most useful</a:t>
            </a:r>
          </a:p>
          <a:p>
            <a:pPr marL="285750" indent="-285750">
              <a:buFont typeface="Arial"/>
              <a:buChar char="•"/>
            </a:pPr>
            <a:r>
              <a:rPr lang="en-US" sz="2000"/>
              <a:t>No definitive winner of what section was most widely beloved</a:t>
            </a:r>
            <a:endParaRPr lang="en-US" sz="2000" dirty="0"/>
          </a:p>
          <a:p>
            <a:pPr marL="285750" indent="-285750">
              <a:buFont typeface="Arial"/>
              <a:buChar char="•"/>
            </a:pPr>
            <a:r>
              <a:rPr lang="en-US" sz="2000"/>
              <a:t>Shows that the most and least useful parts vary by person, a good trait for the design goal of helping with various problems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87253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E8EC0-67F2-08FC-812F-19D71DEA9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Challenges Overcome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808D2-C3E5-4FFA-17E4-8A2795B0C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2400" dirty="0"/>
              <a:t>Working fully in a web application, including front to back end, was new territory for me</a:t>
            </a:r>
          </a:p>
          <a:p>
            <a:r>
              <a:rPr lang="en-US" sz="2400" dirty="0"/>
              <a:t>Coming up with solutions or methods and not being sure which tool would work best with what idea (Jinja vs JS vs POST)</a:t>
            </a:r>
          </a:p>
          <a:p>
            <a:r>
              <a:rPr lang="en-US" sz="2400" dirty="0"/>
              <a:t>Keeping track of branching actions (how one execution affects the whole </a:t>
            </a:r>
            <a:r>
              <a:rPr lang="en-US" sz="2400" dirty="0" err="1"/>
              <a:t>websi</a:t>
            </a:r>
            <a:r>
              <a:rPr lang="en-US" sz="2400" dirty="0"/>
              <a:t>te) was easy to get lost in</a:t>
            </a:r>
          </a:p>
          <a:p>
            <a:r>
              <a:rPr lang="en-US" sz="2400" dirty="0"/>
              <a:t>Web design was </a:t>
            </a:r>
            <a:r>
              <a:rPr lang="en-US" sz="2400"/>
              <a:t>tedious</a:t>
            </a:r>
            <a:endParaRPr lang="en-US" sz="2400" dirty="0"/>
          </a:p>
          <a:p>
            <a:r>
              <a:rPr lang="en-US" sz="2400" dirty="0"/>
              <a:t>Overcame challenges by researching and learning more about web constru</a:t>
            </a:r>
            <a:r>
              <a:rPr lang="en-US" sz="2400"/>
              <a:t>ction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262385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FE5D4-D63A-D942-9722-BD205D3BD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Enhan</a:t>
            </a:r>
            <a:r>
              <a:rPr lang="en-US"/>
              <a:t>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B4DBC-9DAC-B871-58A5-C9F77DA358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Application has many opportunities for new features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Let user swap budget items around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Let user change text information in notes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Be able to go through multiple years instead of just the current one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Let the sections interact more physically</a:t>
            </a:r>
            <a:endParaRPr lang="en-US" dirty="0"/>
          </a:p>
          <a:p>
            <a:r>
              <a:rPr lang="en-US" dirty="0"/>
              <a:t>This is a very scalable project when given enough time and </a:t>
            </a:r>
            <a:r>
              <a:rPr lang="en-US"/>
              <a:t>ability</a:t>
            </a:r>
            <a:endParaRPr lang="en-US" dirty="0"/>
          </a:p>
          <a:p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84824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7B3C7-690B-297E-6CF6-E6C7A99C5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Link to GitHub Repository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92E6D-CADB-6DA1-838E-773D65D8A6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  <a:hlinkClick r:id="rId2"/>
              </a:rPr>
              <a:t>https://github.com/KaileyMO/Time-Management-Project</a:t>
            </a:r>
            <a:endParaRPr lang="en-US">
              <a:ea typeface="+mn-lt"/>
              <a:cs typeface="+mn-l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765547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ccentBoxVTI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AccentBox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F4FE582F-5DDE-4E50-A331-B77FB79D7361}" vid="{42624B42-66F4-4B9A-A3DB-EB561F16279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AccentBoxVTI</vt:lpstr>
      <vt:lpstr>Personal  Management Application</vt:lpstr>
      <vt:lpstr>Purpose</vt:lpstr>
      <vt:lpstr>Research and Background </vt:lpstr>
      <vt:lpstr>Project Tools</vt:lpstr>
      <vt:lpstr>Requirements</vt:lpstr>
      <vt:lpstr>Implementation</vt:lpstr>
      <vt:lpstr>Day View</vt:lpstr>
      <vt:lpstr>Notes Section</vt:lpstr>
      <vt:lpstr>Budget Section</vt:lpstr>
      <vt:lpstr>Testing</vt:lpstr>
      <vt:lpstr>Challenges Overcome</vt:lpstr>
      <vt:lpstr>Future Enhancements</vt:lpstr>
      <vt:lpstr>Link to GitHub Repository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434</cp:revision>
  <dcterms:created xsi:type="dcterms:W3CDTF">2026-03-30T16:22:30Z</dcterms:created>
  <dcterms:modified xsi:type="dcterms:W3CDTF">2026-04-24T16:29:24Z</dcterms:modified>
</cp:coreProperties>
</file>